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16"/>
    <p:sldId id="268" r:id="rId17"/>
    <p:sldId id="269" r:id="rId18"/>
    <p:sldId id="270" r:id="rId19"/>
    <p:sldId id="271" r:id="rId20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C187"/>
    <a:srgbClr val="FAFAFC"/>
    <a:srgbClr val="010B40"/>
    <a:srgbClr val="EFF6FE"/>
    <a:srgbClr val="001B46"/>
    <a:srgbClr val="F7F8FA"/>
    <a:srgbClr val="ECE0D2"/>
    <a:srgbClr val="702877"/>
    <a:srgbClr val="E6BD91"/>
    <a:srgbClr val="E9B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5" autoAdjust="0"/>
  </p:normalViewPr>
  <p:slideViewPr>
    <p:cSldViewPr snapToGrid="0" showGuides="1">
      <p:cViewPr varScale="1">
        <p:scale>
          <a:sx n="73" d="100"/>
          <a:sy n="73" d="100"/>
        </p:scale>
        <p:origin x="96" y="31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Рынок вычислений на периферии</c:v>
                </c:pt>
              </c:strCache>
            </c:strRef>
          </c:tx>
          <c:spPr>
            <a:ln w="28575">
              <a:solidFill>
                <a:srgbClr val="4472C4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15.59</c:v>
                </c:pt>
                <c:pt idx="1">
                  <c:v>32.19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3175">
              <a:solidFill>
                <a:srgbClr val="000000"/>
              </a:solidFill>
            </a:ln>
          </c:spPr>
        </c:majorGridlines>
        <c:title>
          <c:tx>
            <c:rich>
              <a:bodyPr/>
              <a:lstStyle/>
              <a:p>
                <a:r>
                  <a:t>млрд $ США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Рынок автономных автомобилей</c:v>
                </c:pt>
              </c:strCache>
            </c:strRef>
          </c:tx>
          <c:spPr>
            <a:ln w="28575">
              <a:solidFill>
                <a:srgbClr val="4472C4"/>
              </a:solidFill>
            </a:ln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41.1</c:v>
                </c:pt>
                <c:pt idx="1">
                  <c:v>114.54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3175">
              <a:solidFill>
                <a:srgbClr val="000000"/>
              </a:solidFill>
            </a:ln>
          </c:spPr>
        </c:majorGridlines>
        <c:title>
          <c:tx>
            <c:rich>
              <a:bodyPr/>
              <a:lstStyle/>
              <a:p>
                <a:r>
                  <a:t>млрд $ США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Стабильный рост 3D-зрения показывает, что технология вышла за пределы экспериментов и стала стандартом для многих отраслей. Эти два показателя отражают как текущий масштаб, так и уверенную траекторию развития до 2030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 более эффективным архитектурам нейросетей — ключевой фактор, позволяющий запускать сложные системы зрения непосредственно на устройствах, а не только в облаке. Это критически важно для снижения задержек и нагрузки на сеть.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Медицина демонстрирует один из самых высоких темпов роста среди всех отраслей применения компьютерного зрения. Этот показатель подтверждает, что технология уже приносит измеримую ценность в диагностике и анализе медицинских изображений.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Автономный транспорт — один из самых наглядных примеров практического применения компьютерного зрения в масштабе. Рост рынка с 41,10 до 114,54 млрд долларов показывает, что технологии зрения становятся обязательным компонентом для целых отраслей.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Большинство лидеров бизнеса видят в ИИ-агентах фундаментальное изменение архитектуры. Это требует пересмотра подходов к созданию цифровых систем и экосистем уже сейчас.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означает, что системы компьютерного зрения, взаимодействующие с людьми, должны быть не только точными, но и эмпатичными и предсказуемыми в поведении.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Успех в области компьютерного зрения зависит от синергии оптимизированных моделей, edge-инфраструктуры и перестройки бизнес-процессов под ИИ-агентов. Начните с периферии и адаптации экосистем.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presentation-creation.ru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presentation-creation.ru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presentation-creation.ru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002" y="943971"/>
            <a:ext cx="7910398" cy="1252437"/>
          </a:xfrm>
          <a:noFill/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002" y="2350358"/>
            <a:ext cx="7910398" cy="1252437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41" y="1819441"/>
            <a:ext cx="10902117" cy="429758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F22BFD1-5D3D-4CCE-AA1F-3CB0A1CB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4482" y="1867526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174481" y="2557613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681594" y="1965693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59692" y="344280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59691" y="413288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681594" y="3540968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151332" y="4957912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151331" y="5647999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681594" y="5116243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3CFC6054-BB18-43C4-85FB-9DF2CC27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hyperlink" Target="https://presentation-creation.ru/" TargetMode="Externa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resentation-creation.ru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-creation.ru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-creation.ru/" TargetMode="External"/><Relationship Id="rId3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svg"/><Relationship Id="rId3" Type="http://schemas.openxmlformats.org/officeDocument/2006/relationships/image" Target="../media/image4.png"/><Relationship Id="rId4" Type="http://schemas.openxmlformats.org/officeDocument/2006/relationships/hyperlink" Target="https://presentation-creation.ru/" TargetMode="External"/><Relationship Id="rId5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002" y="943971"/>
            <a:ext cx="7910398" cy="1252437"/>
          </a:xfrm>
        </p:spPr>
        <p:txBody>
          <a:bodyPr>
            <a:normAutofit/>
          </a:bodyPr>
          <a:lstStyle/>
          <a:p>
            <a:r>
              <a:rPr lang="ru-RU" sz="4000"/>
              <a:t>Компьютерное зрение становится критической инфраструктурой цифровой экономики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Практическое применение и развитие технологий для технических и продуктовых лидеров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</p:spPr>
        <p:txBody>
          <a:bodyPr/>
          <a:lstStyle/>
          <a:p>
            <a:r>
              <a:rPr lang="ru-RU" b="1" sz="2800"/>
              <a:t>Путь от алгоритмов к бизнес-результату: структура анализа</a:t>
            </a:r>
            <a:endParaRPr lang="ru-RU" dirty="0" sz="2800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254F983C-57C8-4CA4-9552-BBA6C06F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prism:plate"/>
          <p:cNvSpPr/>
          <p:nvPr/>
        </p:nvSpPr>
        <p:spPr>
          <a:xfrm>
            <a:off x="636664" y="1547693"/>
            <a:ext cx="3451685" cy="2078924"/>
          </a:xfrm>
          <a:prstGeom prst="roundRect">
            <a:avLst>
              <a:gd name="adj" fmla="val 4329"/>
            </a:avLst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ism:text"/>
          <p:cNvSpPr txBox="1"/>
          <p:nvPr/>
        </p:nvSpPr>
        <p:spPr>
          <a:xfrm>
            <a:off x="802977" y="1714006"/>
            <a:ext cx="31190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01</a:t>
            </a:r>
          </a:p>
        </p:txBody>
      </p:sp>
      <p:sp>
        <p:nvSpPr>
          <p:cNvPr id="21" name="prism:text"/>
          <p:cNvSpPr txBox="1"/>
          <p:nvPr/>
        </p:nvSpPr>
        <p:spPr>
          <a:xfrm>
            <a:off x="802977" y="2135203"/>
            <a:ext cx="3119059" cy="13251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Рыночный фундамент</a:t>
            </a:r>
          </a:p>
          <a:p>
            <a:pPr algn="l">
              <a:spcBef>
                <a:spcPts val="419"/>
              </a:spcBef>
            </a:pPr>
            <a:r>
              <a:rPr sz="1200" b="0">
                <a:solidFill>
                  <a:srgbClr val="000000"/>
                </a:solidFill>
                <a:latin typeface="Calibri"/>
              </a:rPr>
              <a:t>Генеративный ИИ и периферийные вычисления</a:t>
            </a:r>
          </a:p>
        </p:txBody>
      </p:sp>
      <p:sp>
        <p:nvSpPr>
          <p:cNvPr id="22" name="prism:plate"/>
          <p:cNvSpPr/>
          <p:nvPr/>
        </p:nvSpPr>
        <p:spPr>
          <a:xfrm>
            <a:off x="4362669" y="1547693"/>
            <a:ext cx="3451685" cy="2078924"/>
          </a:xfrm>
          <a:prstGeom prst="roundRect">
            <a:avLst>
              <a:gd name="adj" fmla="val 4329"/>
            </a:avLst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ism:text"/>
          <p:cNvSpPr txBox="1"/>
          <p:nvPr/>
        </p:nvSpPr>
        <p:spPr>
          <a:xfrm>
            <a:off x="4528982" y="1714006"/>
            <a:ext cx="31190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02</a:t>
            </a:r>
          </a:p>
        </p:txBody>
      </p:sp>
      <p:sp>
        <p:nvSpPr>
          <p:cNvPr id="24" name="prism:text"/>
          <p:cNvSpPr txBox="1"/>
          <p:nvPr/>
        </p:nvSpPr>
        <p:spPr>
          <a:xfrm>
            <a:off x="4528982" y="2135203"/>
            <a:ext cx="3119059" cy="13251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Специализация 3D-зрения</a:t>
            </a:r>
          </a:p>
          <a:p>
            <a:pPr algn="l">
              <a:spcBef>
                <a:spcPts val="419"/>
              </a:spcBef>
            </a:pPr>
            <a:r>
              <a:rPr sz="1200" b="0">
                <a:solidFill>
                  <a:srgbClr val="000000"/>
                </a:solidFill>
                <a:latin typeface="Calibri"/>
              </a:rPr>
              <a:t>Устойчивый рост рынка 3D-машинного зрения</a:t>
            </a:r>
          </a:p>
        </p:txBody>
      </p:sp>
      <p:sp>
        <p:nvSpPr>
          <p:cNvPr id="25" name="prism:plate"/>
          <p:cNvSpPr/>
          <p:nvPr/>
        </p:nvSpPr>
        <p:spPr>
          <a:xfrm>
            <a:off x="8088674" y="1547693"/>
            <a:ext cx="3451685" cy="2078924"/>
          </a:xfrm>
          <a:prstGeom prst="roundRect">
            <a:avLst>
              <a:gd name="adj" fmla="val 4329"/>
            </a:avLst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rism:text"/>
          <p:cNvSpPr txBox="1"/>
          <p:nvPr/>
        </p:nvSpPr>
        <p:spPr>
          <a:xfrm>
            <a:off x="8254987" y="1714006"/>
            <a:ext cx="31190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03</a:t>
            </a:r>
          </a:p>
        </p:txBody>
      </p:sp>
      <p:sp>
        <p:nvSpPr>
          <p:cNvPr id="27" name="prism:text"/>
          <p:cNvSpPr txBox="1"/>
          <p:nvPr/>
        </p:nvSpPr>
        <p:spPr>
          <a:xfrm>
            <a:off x="8254987" y="2135203"/>
            <a:ext cx="3119059" cy="13251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Технологическая оптимизация</a:t>
            </a:r>
          </a:p>
          <a:p>
            <a:pPr algn="l">
              <a:spcBef>
                <a:spcPts val="419"/>
              </a:spcBef>
            </a:pPr>
            <a:r>
              <a:rPr sz="1200" b="0">
                <a:solidFill>
                  <a:srgbClr val="000000"/>
                </a:solidFill>
                <a:latin typeface="Calibri"/>
              </a:rPr>
              <a:t>Эволюция моделей YOLO для периферии</a:t>
            </a:r>
          </a:p>
        </p:txBody>
      </p:sp>
      <p:sp>
        <p:nvSpPr>
          <p:cNvPr id="28" name="prism:plate"/>
          <p:cNvSpPr/>
          <p:nvPr/>
        </p:nvSpPr>
        <p:spPr>
          <a:xfrm>
            <a:off x="636664" y="3900937"/>
            <a:ext cx="3451685" cy="2078924"/>
          </a:xfrm>
          <a:prstGeom prst="roundRect">
            <a:avLst>
              <a:gd name="adj" fmla="val 4329"/>
            </a:avLst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ism:text"/>
          <p:cNvSpPr txBox="1"/>
          <p:nvPr/>
        </p:nvSpPr>
        <p:spPr>
          <a:xfrm>
            <a:off x="802977" y="4067250"/>
            <a:ext cx="31190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04</a:t>
            </a:r>
          </a:p>
        </p:txBody>
      </p:sp>
      <p:sp>
        <p:nvSpPr>
          <p:cNvPr id="30" name="prism:text"/>
          <p:cNvSpPr txBox="1"/>
          <p:nvPr/>
        </p:nvSpPr>
        <p:spPr>
          <a:xfrm>
            <a:off x="802977" y="4488447"/>
            <a:ext cx="3119059" cy="13251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Отраслевое применение</a:t>
            </a:r>
          </a:p>
          <a:p>
            <a:pPr algn="l">
              <a:spcBef>
                <a:spcPts val="419"/>
              </a:spcBef>
            </a:pPr>
            <a:r>
              <a:rPr sz="1200" b="0">
                <a:solidFill>
                  <a:srgbClr val="000000"/>
                </a:solidFill>
                <a:latin typeface="Calibri"/>
              </a:rPr>
              <a:t>Кейсы в медицине и автономном транспорте</a:t>
            </a:r>
          </a:p>
        </p:txBody>
      </p:sp>
      <p:sp>
        <p:nvSpPr>
          <p:cNvPr id="31" name="prism:plate"/>
          <p:cNvSpPr/>
          <p:nvPr/>
        </p:nvSpPr>
        <p:spPr>
          <a:xfrm>
            <a:off x="4362669" y="3900937"/>
            <a:ext cx="3451685" cy="2078924"/>
          </a:xfrm>
          <a:prstGeom prst="roundRect">
            <a:avLst>
              <a:gd name="adj" fmla="val 4329"/>
            </a:avLst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rism:text"/>
          <p:cNvSpPr txBox="1"/>
          <p:nvPr/>
        </p:nvSpPr>
        <p:spPr>
          <a:xfrm>
            <a:off x="4528982" y="4067250"/>
            <a:ext cx="31190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05</a:t>
            </a:r>
          </a:p>
        </p:txBody>
      </p:sp>
      <p:sp>
        <p:nvSpPr>
          <p:cNvPr id="33" name="prism:text"/>
          <p:cNvSpPr txBox="1"/>
          <p:nvPr/>
        </p:nvSpPr>
        <p:spPr>
          <a:xfrm>
            <a:off x="4528982" y="4488447"/>
            <a:ext cx="3119059" cy="13251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Стратегические ожидания</a:t>
            </a:r>
          </a:p>
          <a:p>
            <a:pPr algn="l">
              <a:spcBef>
                <a:spcPts val="419"/>
              </a:spcBef>
            </a:pPr>
            <a:r>
              <a:rPr sz="1200" b="0">
                <a:solidFill>
                  <a:srgbClr val="000000"/>
                </a:solidFill>
                <a:latin typeface="Calibri"/>
              </a:rPr>
              <a:t>Приоритеты руководителей по ИИ-агентам</a:t>
            </a:r>
          </a:p>
        </p:txBody>
      </p:sp>
      <p:sp>
        <p:nvSpPr>
          <p:cNvPr id="34" name="prism:plate"/>
          <p:cNvSpPr/>
          <p:nvPr/>
        </p:nvSpPr>
        <p:spPr>
          <a:xfrm>
            <a:off x="8088674" y="3900937"/>
            <a:ext cx="3451685" cy="2078924"/>
          </a:xfrm>
          <a:prstGeom prst="roundRect">
            <a:avLst>
              <a:gd name="adj" fmla="val 4329"/>
            </a:avLst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rism:text"/>
          <p:cNvSpPr txBox="1"/>
          <p:nvPr/>
        </p:nvSpPr>
        <p:spPr>
          <a:xfrm>
            <a:off x="8254987" y="4067250"/>
            <a:ext cx="31190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06</a:t>
            </a:r>
          </a:p>
        </p:txBody>
      </p:sp>
      <p:sp>
        <p:nvSpPr>
          <p:cNvPr id="36" name="prism:text"/>
          <p:cNvSpPr txBox="1"/>
          <p:nvPr/>
        </p:nvSpPr>
        <p:spPr>
          <a:xfrm>
            <a:off x="8254987" y="4488447"/>
            <a:ext cx="3119059" cy="13251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Выводы</a:t>
            </a:r>
          </a:p>
          <a:p>
            <a:pPr algn="l">
              <a:spcBef>
                <a:spcPts val="419"/>
              </a:spcBef>
            </a:pPr>
            <a:r>
              <a:rPr sz="1200" b="0">
                <a:solidFill>
                  <a:srgbClr val="000000"/>
                </a:solidFill>
                <a:latin typeface="Calibri"/>
              </a:rPr>
              <a:t>Приоритеты для внедрения технологий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5B37E-12BC-4797-8E22-48253BEE2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</p:spPr>
        <p:txBody>
          <a:bodyPr/>
          <a:lstStyle/>
          <a:p>
            <a:r>
              <a:rPr lang="ru-RU" b="1" sz="2800"/>
              <a:t>Рынок генеративного ИИ формирует мощный спрос на зрительные модели</a:t>
            </a:r>
            <a:endParaRPr lang="ru-RU" dirty="0" sz="280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DFFC33-3067-4C6A-B4FE-367031FDB831}"/>
              </a:ext>
            </a:extLst>
          </p:cNvPr>
          <p:cNvSpPr/>
          <p:nvPr/>
        </p:nvSpPr>
        <p:spPr>
          <a:xfrm>
            <a:off x="636664" y="1969961"/>
            <a:ext cx="1078177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500"/>
              <a:t>10,14 млрд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97357-F7BF-4663-8BD4-F1427951DCF4}"/>
              </a:ext>
            </a:extLst>
          </p:cNvPr>
          <p:cNvSpPr txBox="1"/>
          <p:nvPr/>
        </p:nvSpPr>
        <p:spPr>
          <a:xfrm>
            <a:off x="636664" y="3915137"/>
            <a:ext cx="79563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/>
              <a:t>$ США в 2022 году</a:t>
            </a:r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CE27EE79-0442-4B3F-B156-E508D8714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9E2A3-7E4F-4EEC-937A-90AC2509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</p:spPr>
        <p:txBody>
          <a:bodyPr/>
          <a:lstStyle/>
          <a:p>
            <a:r>
              <a:rPr lang="ru-RU" b="1" sz="4000"/>
              <a:t>Периферийные вычисления удваивают свой объем к 2029 году</a:t>
            </a:r>
            <a:endParaRPr lang="ru-RU" dirty="0" sz="400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81D112F3-2B0F-465A-89FF-640051319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" name="prism:chart"/>
          <p:cNvGraphicFramePr>
            <a:graphicFrameLocks noGrp="1"/>
          </p:cNvGraphicFramePr>
          <p:nvPr/>
        </p:nvGraphicFramePr>
        <p:xfrm>
          <a:off x="1671145" y="1810583"/>
          <a:ext cx="8849710" cy="356020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Объект 4">
            <a:extLst>
              <a:ext uri="{FF2B5EF4-FFF2-40B4-BE49-F238E27FC236}">
                <a16:creationId xmlns:a16="http://schemas.microsoft.com/office/drawing/2014/main" id="{72F59B67-F1F5-46FE-8727-B17F9D47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5,81 млрд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7512A9-F238-4B19-8881-B5DB693C9C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/>
              <a:t>$ США (2022 год)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86EB6-932E-4AA1-87EE-A627DABC081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/>
              <a:t>13,5%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B76BF9BC-1230-4B50-9D55-7B479C04657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/>
              <a:t>CAGR (2023–2030)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</p:spPr>
        <p:txBody>
          <a:bodyPr/>
          <a:lstStyle/>
          <a:p>
            <a:r>
              <a:rPr lang="ru-RU" b="1" sz="2800"/>
              <a:t>3D-машинное зрение демонстрирует устойчивый рост на 13,5% ежегодно</a:t>
            </a:r>
            <a:endParaRPr lang="ru-RU" dirty="0" sz="2800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254F983C-57C8-4CA4-9552-BBA6C06F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Объект 4">
            <a:extLst>
              <a:ext uri="{FF2B5EF4-FFF2-40B4-BE49-F238E27FC236}">
                <a16:creationId xmlns:a16="http://schemas.microsoft.com/office/drawing/2014/main" id="{72F59B67-F1F5-46FE-8727-B17F9D47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Технология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7512A9-F238-4B19-8881-B5DB693C9C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ru-RU" sz="1200"/>
              <a:t>YOLO11 использует на 22% меньше параметров, чем YOLOv8, при более высокой точности.</a:t>
            </a:r>
            <a:endParaRPr lang="ru-RU" dirty="0" sz="120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86EB6-932E-4AA1-87EE-A627DABC081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/>
              <a:t>Значение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B76BF9BC-1230-4B50-9D55-7B479C04657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r>
              <a:rPr lang="ru-RU" sz="1200"/>
              <a:t>Локальная обработка снижает задержки и нагрузку на сеть, что критично для периферийных вычислений.</a:t>
            </a:r>
            <a:endParaRPr lang="ru-RU" dirty="0" sz="120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</p:spPr>
        <p:txBody>
          <a:bodyPr/>
          <a:lstStyle/>
          <a:p>
            <a:r>
              <a:rPr lang="ru-RU" b="1" sz="2800"/>
              <a:t>Оптимизация моделей позволяет запускать сложное зрение на периферийных устройствах</a:t>
            </a:r>
            <a:endParaRPr lang="ru-RU" dirty="0" sz="2800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254F983C-57C8-4CA4-9552-BBA6C06F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</p:spPr>
        <p:txBody>
          <a:bodyPr/>
          <a:lstStyle/>
          <a:p>
            <a:r>
              <a:rPr lang="ru-RU" b="1" sz="4000"/>
              <a:t>Здравоохранение: компьютерное зрение растет на 35,2% ежегодно</a:t>
            </a:r>
            <a:endParaRPr lang="ru-RU" dirty="0" sz="4000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254F983C-57C8-4CA4-9552-BBA6C06F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9" name="prism:line"/>
          <p:cNvCxnSpPr/>
          <p:nvPr/>
        </p:nvCxnSpPr>
        <p:spPr>
          <a:xfrm>
            <a:off x="636664" y="1913453"/>
            <a:ext cx="2657343" cy="0"/>
          </a:xfrm>
          <a:prstGeom prst="line">
            <a:avLst/>
          </a:prstGeom>
          <a:ln w="3175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ism:text"/>
          <p:cNvSpPr txBox="1"/>
          <p:nvPr/>
        </p:nvSpPr>
        <p:spPr>
          <a:xfrm>
            <a:off x="636664" y="2050613"/>
            <a:ext cx="5314687" cy="1707891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6000" b="1">
                <a:solidFill>
                  <a:srgbClr val="4472C4"/>
                </a:solidFill>
                <a:latin typeface="Calibri"/>
              </a:rPr>
              <a:t>1,31 млрд</a:t>
            </a:r>
          </a:p>
        </p:txBody>
      </p:sp>
      <p:sp>
        <p:nvSpPr>
          <p:cNvPr id="21" name="prism:text"/>
          <p:cNvSpPr txBox="1"/>
          <p:nvPr/>
        </p:nvSpPr>
        <p:spPr>
          <a:xfrm>
            <a:off x="636664" y="3849944"/>
            <a:ext cx="5314687" cy="20841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$ США (2022 год)</a:t>
            </a:r>
          </a:p>
        </p:txBody>
      </p:sp>
      <p:cxnSp>
        <p:nvCxnSpPr>
          <p:cNvPr id="22" name="prism:line"/>
          <p:cNvCxnSpPr/>
          <p:nvPr/>
        </p:nvCxnSpPr>
        <p:spPr>
          <a:xfrm>
            <a:off x="6225671" y="1913453"/>
            <a:ext cx="2657343" cy="0"/>
          </a:xfrm>
          <a:prstGeom prst="line">
            <a:avLst/>
          </a:prstGeom>
          <a:ln w="3175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ism:text"/>
          <p:cNvSpPr txBox="1"/>
          <p:nvPr/>
        </p:nvSpPr>
        <p:spPr>
          <a:xfrm>
            <a:off x="6225671" y="2050613"/>
            <a:ext cx="5314687" cy="1707891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1500" b="1">
                <a:solidFill>
                  <a:srgbClr val="4472C4"/>
                </a:solidFill>
                <a:latin typeface="Calibri"/>
              </a:rPr>
              <a:t>35,2%</a:t>
            </a:r>
          </a:p>
        </p:txBody>
      </p:sp>
      <p:sp>
        <p:nvSpPr>
          <p:cNvPr id="24" name="prism:text"/>
          <p:cNvSpPr txBox="1"/>
          <p:nvPr/>
        </p:nvSpPr>
        <p:spPr>
          <a:xfrm>
            <a:off x="6225671" y="3849944"/>
            <a:ext cx="5314687" cy="20841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CAGR (2023–2030)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9E2A3-7E4F-4EEC-937A-90AC2509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</p:spPr>
        <p:txBody>
          <a:bodyPr/>
          <a:lstStyle/>
          <a:p>
            <a:r>
              <a:rPr lang="ru-RU" b="1" sz="2800"/>
              <a:t>Автономный транспорт масштабируется до 114 млрд долларов к 2029 году</a:t>
            </a:r>
            <a:endParaRPr lang="ru-RU" dirty="0" sz="280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81D112F3-2B0F-465A-89FF-640051319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9" name="prism:chart"/>
          <p:cNvGraphicFramePr>
            <a:graphicFrameLocks noGrp="1"/>
          </p:cNvGraphicFramePr>
          <p:nvPr/>
        </p:nvGraphicFramePr>
        <p:xfrm>
          <a:off x="1671145" y="1808655"/>
          <a:ext cx="8849710" cy="35621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C17D-1B13-4EAD-8EB7-86B0C935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</p:spPr>
        <p:txBody>
          <a:bodyPr/>
          <a:lstStyle/>
          <a:p>
            <a:r>
              <a:rPr lang="ru-RU" b="1" sz="2800"/>
              <a:t>Руководители признают необходимость перестройки цифровых систем под ИИ-агентов</a:t>
            </a:r>
            <a:endParaRPr lang="ru-RU" dirty="0" sz="280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5F8B71-B3F0-4B5B-9889-A669C9287628}"/>
              </a:ext>
            </a:extLst>
          </p:cNvPr>
          <p:cNvSpPr/>
          <p:nvPr/>
        </p:nvSpPr>
        <p:spPr>
          <a:xfrm>
            <a:off x="1666956" y="2198566"/>
            <a:ext cx="2601905" cy="276621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35084F8-7ED0-4481-8986-ABD6CA5AAB40}"/>
              </a:ext>
            </a:extLst>
          </p:cNvPr>
          <p:cNvSpPr/>
          <p:nvPr/>
        </p:nvSpPr>
        <p:spPr>
          <a:xfrm>
            <a:off x="2611836" y="1857265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96958-C773-4B08-BE3D-14C716C80F2A}"/>
              </a:ext>
            </a:extLst>
          </p:cNvPr>
          <p:cNvSpPr txBox="1"/>
          <p:nvPr/>
        </p:nvSpPr>
        <p:spPr>
          <a:xfrm>
            <a:off x="2621362" y="186467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8D1042-DD36-4B2C-B3A2-D1C9C9A0154B}"/>
              </a:ext>
            </a:extLst>
          </p:cNvPr>
          <p:cNvSpPr/>
          <p:nvPr/>
        </p:nvSpPr>
        <p:spPr>
          <a:xfrm>
            <a:off x="4795047" y="2201881"/>
            <a:ext cx="2601905" cy="276621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8148BF-EC4D-4C25-9613-E60EB4681F26}"/>
              </a:ext>
            </a:extLst>
          </p:cNvPr>
          <p:cNvSpPr txBox="1">
            <a:spLocks/>
          </p:cNvSpPr>
          <p:nvPr/>
        </p:nvSpPr>
        <p:spPr>
          <a:xfrm>
            <a:off x="4890092" y="2640032"/>
            <a:ext cx="2411816" cy="181849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>
                <a:solidFill>
                  <a:schemeClr val="bg1"/>
                </a:solidFill>
              </a:rPr>
              <a:t>Экосистемы для ИИ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0B958B4-7F8C-4E5D-9E45-B4A7C4FBE2A1}"/>
              </a:ext>
            </a:extLst>
          </p:cNvPr>
          <p:cNvSpPr/>
          <p:nvPr/>
        </p:nvSpPr>
        <p:spPr>
          <a:xfrm>
            <a:off x="5739927" y="1860580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C40FA-A6EA-4665-A64E-AE4962E1FD08}"/>
              </a:ext>
            </a:extLst>
          </p:cNvPr>
          <p:cNvSpPr txBox="1"/>
          <p:nvPr/>
        </p:nvSpPr>
        <p:spPr>
          <a:xfrm>
            <a:off x="5733280" y="1842862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52AB29-A1C9-4B9C-92D3-604138A44B04}"/>
              </a:ext>
            </a:extLst>
          </p:cNvPr>
          <p:cNvSpPr/>
          <p:nvPr/>
        </p:nvSpPr>
        <p:spPr>
          <a:xfrm>
            <a:off x="7923138" y="2198566"/>
            <a:ext cx="2601905" cy="276621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9708AAE2-D6AC-46F0-A8D4-31114B381531}"/>
              </a:ext>
            </a:extLst>
          </p:cNvPr>
          <p:cNvSpPr/>
          <p:nvPr/>
        </p:nvSpPr>
        <p:spPr>
          <a:xfrm>
            <a:off x="8868018" y="1857265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57736-1908-4ED7-A0CA-76859DC8C722}"/>
              </a:ext>
            </a:extLst>
          </p:cNvPr>
          <p:cNvSpPr txBox="1"/>
          <p:nvPr/>
        </p:nvSpPr>
        <p:spPr>
          <a:xfrm>
            <a:off x="8877543" y="1854022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4A02190-3F35-4067-92C3-4DA6E7B4975B}"/>
              </a:ext>
            </a:extLst>
          </p:cNvPr>
          <p:cNvSpPr txBox="1">
            <a:spLocks/>
          </p:cNvSpPr>
          <p:nvPr/>
        </p:nvSpPr>
        <p:spPr>
          <a:xfrm>
            <a:off x="8074864" y="2636716"/>
            <a:ext cx="2411816" cy="206898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>
                <a:solidFill>
                  <a:schemeClr val="bg1"/>
                </a:solidFill>
              </a:rPr>
              <a:t>Гибкость архитектуры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277D8EA-42AF-4569-B3D0-9B80EAC7E0C8}"/>
              </a:ext>
            </a:extLst>
          </p:cNvPr>
          <p:cNvSpPr txBox="1">
            <a:spLocks/>
          </p:cNvSpPr>
          <p:nvPr/>
        </p:nvSpPr>
        <p:spPr>
          <a:xfrm>
            <a:off x="1782166" y="2645555"/>
            <a:ext cx="2411816" cy="207757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>
                <a:solidFill>
                  <a:schemeClr val="bg1"/>
                </a:solidFill>
              </a:rPr>
              <a:t>Преобразование систем</a:t>
            </a:r>
          </a:p>
        </p:txBody>
      </p:sp>
      <p:sp>
        <p:nvSpPr>
          <p:cNvPr id="20" name="Нижний колонтитул 4">
            <a:extLst>
              <a:ext uri="{FF2B5EF4-FFF2-40B4-BE49-F238E27FC236}">
                <a16:creationId xmlns:a16="http://schemas.microsoft.com/office/drawing/2014/main" id="{71D88591-31B0-42E8-8110-2B8244D1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64" y="1879114"/>
            <a:ext cx="5459336" cy="3454125"/>
          </a:xfrm>
        </p:spPr>
        <p:txBody>
          <a:bodyPr>
            <a:normAutofit/>
          </a:bodyPr>
          <a:lstStyle/>
          <a:p>
            <a:r>
              <a:rPr lang="ru-RU"/>
              <a:t>95% руководителей отмечают важность последовательной личности для клиентских ИИ-агентов в ближайшие 3 года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2" y="374213"/>
            <a:ext cx="10902117" cy="1325563"/>
          </a:xfrm>
        </p:spPr>
        <p:txBody>
          <a:bodyPr/>
          <a:lstStyle/>
          <a:p>
            <a:r>
              <a:rPr lang="ru-RU" b="1" sz="2800"/>
              <a:t>Ключевой тренд: сохранение последовательности личности в клиентских ИИ-системах</a:t>
            </a:r>
            <a:endParaRPr lang="ru-RU" dirty="0" sz="2800"/>
          </a:p>
        </p:txBody>
      </p:sp>
      <p:pic>
        <p:nvPicPr>
          <p:cNvPr id="5" name="Рисунок 4" descr="Статистика">
            <a:extLst>
              <a:ext uri="{FF2B5EF4-FFF2-40B4-BE49-F238E27FC236}">
                <a16:creationId xmlns:a16="http://schemas.microsoft.com/office/drawing/2014/main" id="{F3E1811F-9EB3-488D-AD2F-1DC58D540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12653" y="1879114"/>
            <a:ext cx="3100086" cy="3100086"/>
          </a:xfrm>
          <a:prstGeom prst="rect">
            <a:avLst/>
          </a:prstGeom>
        </p:spPr>
      </p:pic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E1D16FC5-5CF7-4053-B224-9B293411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E13806-2F6F-4C87-AF3C-28459D43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48" y="2766218"/>
            <a:ext cx="11519338" cy="1325563"/>
          </a:xfrm>
        </p:spPr>
        <p:txBody>
          <a:bodyPr>
            <a:normAutofit/>
          </a:bodyPr>
          <a:lstStyle/>
          <a:p>
            <a:pPr algn="ctr"/>
            <a:r>
              <a:rPr lang="ru-RU" sz="4400"/>
              <a:t>Стратегический вывод: Инвестируйте в периферийную инфраструктуру и адаптацию экосистем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448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Источники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с цветовым блоком - шаблон презентации с сайта presentation-creation.ru</dc:title>
  <dc:creator>User Obstinate</dc:creator>
  <cp:lastModifiedBy>User Obstinate</cp:lastModifiedBy>
  <cp:revision>80</cp:revision>
  <dcterms:created xsi:type="dcterms:W3CDTF">2025-04-04T15:20:50Z</dcterms:created>
  <dcterms:modified xsi:type="dcterms:W3CDTF">2026-09-06T06:24:23Z</dcterms:modified>
</cp:coreProperties>
</file>